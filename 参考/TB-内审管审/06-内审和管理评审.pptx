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/>
  <p:notesSz cx="9144000" cy="6858000"/>
  <p:custDataLst>
    <p:tags r:id="rId3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66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71475" y="219075"/>
            <a:ext cx="8239125" cy="619125"/>
          </a:xfrm>
          <a:custGeom>
            <a:avLst/>
            <a:gdLst/>
            <a:ahLst/>
            <a:cxnLst/>
            <a:rect l="l" t="t" r="r" b="b"/>
            <a:pathLst>
              <a:path w="8239125" h="619125">
                <a:moveTo>
                  <a:pt x="19050" y="619125"/>
                </a:moveTo>
                <a:lnTo>
                  <a:pt x="0" y="619125"/>
                </a:lnTo>
                <a:lnTo>
                  <a:pt x="0" y="0"/>
                </a:lnTo>
                <a:lnTo>
                  <a:pt x="8239125" y="0"/>
                </a:lnTo>
                <a:lnTo>
                  <a:pt x="8239125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619125"/>
                </a:lnTo>
                <a:close/>
              </a:path>
              <a:path w="8239125" h="61912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8239125" h="619125">
                <a:moveTo>
                  <a:pt x="8239125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239125" y="9525"/>
                </a:lnTo>
                <a:lnTo>
                  <a:pt x="8239125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66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71475" y="219075"/>
            <a:ext cx="8239125" cy="619125"/>
          </a:xfrm>
          <a:custGeom>
            <a:avLst/>
            <a:gdLst/>
            <a:ahLst/>
            <a:cxnLst/>
            <a:rect l="l" t="t" r="r" b="b"/>
            <a:pathLst>
              <a:path w="8239125" h="619125">
                <a:moveTo>
                  <a:pt x="19050" y="619125"/>
                </a:moveTo>
                <a:lnTo>
                  <a:pt x="0" y="619125"/>
                </a:lnTo>
                <a:lnTo>
                  <a:pt x="0" y="0"/>
                </a:lnTo>
                <a:lnTo>
                  <a:pt x="8239125" y="0"/>
                </a:lnTo>
                <a:lnTo>
                  <a:pt x="8239125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619125"/>
                </a:lnTo>
                <a:close/>
              </a:path>
              <a:path w="8239125" h="61912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8239125" h="619125">
                <a:moveTo>
                  <a:pt x="8239125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239125" y="9525"/>
                </a:lnTo>
                <a:lnTo>
                  <a:pt x="8239125" y="1905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1552" y="381317"/>
            <a:ext cx="272986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1805" y="2152014"/>
            <a:ext cx="8393430" cy="351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164" y="2295842"/>
            <a:ext cx="7136765" cy="2882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管理体系的内部审核和管理评</a:t>
            </a:r>
            <a:r>
              <a:rPr sz="4000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审</a:t>
            </a:r>
            <a:endParaRPr sz="4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850">
              <a:latin typeface="Times New Roman" panose="02020603050405020304"/>
              <a:cs typeface="Times New Roman" panose="02020603050405020304"/>
            </a:endParaRPr>
          </a:p>
          <a:p>
            <a:pPr marR="720090" algn="ctr">
              <a:lnSpc>
                <a:spcPct val="100000"/>
              </a:lnSpc>
            </a:pPr>
            <a:endParaRPr sz="4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596390">
              <a:lnSpc>
                <a:spcPct val="100000"/>
              </a:lnSpc>
              <a:spcBef>
                <a:spcPts val="960"/>
              </a:spcBef>
            </a:pPr>
            <a:r>
              <a:rPr sz="40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 201</a:t>
            </a:r>
            <a:r>
              <a:rPr lang="en-US" sz="40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9</a:t>
            </a:r>
            <a:r>
              <a:rPr sz="4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sz="4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sz="4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月</a:t>
            </a:r>
            <a:endParaRPr sz="4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22094"/>
            <a:ext cx="8026400" cy="386397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内部审核</a:t>
            </a:r>
            <a:r>
              <a:rPr sz="3000" dirty="0">
                <a:latin typeface="Arial" panose="020B0604020202020204"/>
                <a:cs typeface="Arial" panose="020B0604020202020204"/>
              </a:rPr>
              <a:t>:</a:t>
            </a:r>
            <a:endParaRPr sz="3000">
              <a:latin typeface="Arial" panose="020B0604020202020204"/>
              <a:cs typeface="Arial" panose="020B0604020202020204"/>
            </a:endParaRPr>
          </a:p>
          <a:p>
            <a:pPr marL="12700" marR="5080" indent="424180">
              <a:lnSpc>
                <a:spcPct val="100000"/>
              </a:lnSpc>
              <a:spcBef>
                <a:spcPts val="725"/>
              </a:spcBef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是检验检测机构自行组织的管理体系审核</a:t>
            </a:r>
            <a:r>
              <a:rPr sz="3000" dirty="0">
                <a:latin typeface="Arial" panose="020B0604020202020204"/>
                <a:cs typeface="Arial" panose="020B0604020202020204"/>
              </a:rPr>
              <a:t>,</a:t>
            </a: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按 照管理体系文件规定</a:t>
            </a:r>
            <a:r>
              <a:rPr sz="3000" dirty="0">
                <a:latin typeface="Arial" panose="020B0604020202020204"/>
                <a:cs typeface="Arial" panose="020B0604020202020204"/>
              </a:rPr>
              <a:t>,</a:t>
            </a: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对其管理体系的各个环节 组织开展的有计划的、系统的、独立的检查活动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。检验检测机构应当编制内部审核控制程序，对 内部审核工作的计划、筹备、实施、结果报告、 不符合工作的纠正、纠正措施及验证环节进行合 理规范。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45652" y="558800"/>
            <a:ext cx="5071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3600" dirty="0"/>
              <a:t>、管理体系的内部审</a:t>
            </a:r>
            <a:r>
              <a:rPr sz="3600" spc="-15" dirty="0"/>
              <a:t>核</a:t>
            </a:r>
            <a:endParaRPr sz="3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4377" y="1519872"/>
            <a:ext cx="7392034" cy="420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10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420370" algn="l"/>
                <a:tab pos="421005" algn="l"/>
                <a:tab pos="1289050" algn="l"/>
              </a:tabLst>
            </a:pPr>
            <a:r>
              <a:rPr sz="2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4.5.12	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内部审</a:t>
            </a:r>
            <a:r>
              <a:rPr sz="2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核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indent="1007745" algn="just">
              <a:lnSpc>
                <a:spcPct val="250000"/>
              </a:lnSpc>
              <a:spcBef>
                <a:spcPts val="480"/>
              </a:spcBef>
            </a:pP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检验检测机构应建立和保持管理体系内部审核的程序，以 便验证其运作是否符合管理体系和本准则的要求。管理体系是否得 到有效的实施和保持。内部审核通常每年一次，由质量负责人策划 内审并制定审核方案。内审员须经过培训，具备相应资格，内审员 应独立于被审核的活动。检验检测机构应</a:t>
            </a:r>
            <a:r>
              <a:rPr sz="2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58544"/>
            <a:ext cx="8039100" cy="466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9000"/>
              </a:lnSpc>
              <a:spcBef>
                <a:spcPts val="10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a)</a:t>
            </a:r>
            <a:r>
              <a:rPr sz="2400" spc="-10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依据有关过程的重要性、对检验检测机构产生影响的变 化和以往的审核结果，策划、制定、实施和保持审核方案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>
              <a:lnSpc>
                <a:spcPct val="100000"/>
              </a:lnSpc>
              <a:spcBef>
                <a:spcPts val="860"/>
              </a:spcBef>
            </a:pP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，审核方案包括频次、方法、职责、策划要求和报告；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145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b)</a:t>
            </a:r>
            <a:r>
              <a:rPr sz="2400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规定每次审核的审核要求（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准则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）和范围。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143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c)</a:t>
            </a:r>
            <a:r>
              <a:rPr sz="24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选择审核员并实施审核；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143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d)</a:t>
            </a:r>
            <a:r>
              <a:rPr sz="24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确保将审核结果报告给相关管理者；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143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e)</a:t>
            </a:r>
            <a:r>
              <a:rPr sz="24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及时采取适当的纠正和纠正措施；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90170" indent="-342900">
              <a:lnSpc>
                <a:spcPct val="130000"/>
              </a:lnSpc>
              <a:spcBef>
                <a:spcPts val="57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f)</a:t>
            </a:r>
            <a:r>
              <a:rPr sz="2400" spc="-1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保留形成文件的信息，作为实施方案以及审核结果的证 据。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5427"/>
            <a:ext cx="185610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35405" algn="l"/>
              </a:tabLst>
            </a:pPr>
            <a:r>
              <a:rPr sz="4000" spc="-25" dirty="0">
                <a:solidFill>
                  <a:srgbClr val="FF00FF"/>
                </a:solidFill>
              </a:rPr>
              <a:t>内	审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45465" y="940752"/>
            <a:ext cx="7949565" cy="2165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CC9900"/>
              </a:buClr>
              <a:buSzPct val="66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16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主要负责：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质量负责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1600" spc="9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策划并制定审核方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案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1135"/>
              </a:spcBef>
              <a:buClr>
                <a:srgbClr val="CC9900"/>
              </a:buClr>
              <a:buSzPct val="66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16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目的：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体系的符合性自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查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1155"/>
              </a:spcBef>
              <a:buClr>
                <a:srgbClr val="CC9900"/>
              </a:buClr>
              <a:buSzPct val="66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16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内审依据：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体系文件、通用要求及行业特殊要求、合同、法律法规及有效的技术标准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55600" indent="-342900">
              <a:lnSpc>
                <a:spcPct val="100000"/>
              </a:lnSpc>
              <a:spcBef>
                <a:spcPts val="1135"/>
              </a:spcBef>
              <a:buClr>
                <a:srgbClr val="CC9900"/>
              </a:buClr>
              <a:buSzPct val="66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16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内审原则：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客观、公正、独立、系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64135" indent="-342900">
              <a:lnSpc>
                <a:spcPct val="140000"/>
              </a:lnSpc>
              <a:spcBef>
                <a:spcPts val="380"/>
              </a:spcBef>
              <a:buClr>
                <a:srgbClr val="CC9900"/>
              </a:buClr>
              <a:buSzPct val="66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16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范围：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每年至少一次，覆盖所有要素、覆盖与管理体系有关的所有部门、所有场所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和 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所有活动；（四个覆盖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！）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5465" y="3297872"/>
            <a:ext cx="125095" cy="18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5" dirty="0">
                <a:solidFill>
                  <a:srgbClr val="CC9900"/>
                </a:solidFill>
                <a:latin typeface="Wingdings" panose="05000000000000000000"/>
                <a:cs typeface="Wingdings" panose="05000000000000000000"/>
              </a:rPr>
              <a:t></a:t>
            </a:r>
            <a:endParaRPr sz="1050">
              <a:latin typeface="Wingdings" panose="05000000000000000000"/>
              <a:cs typeface="Wingdings" panose="050000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939" y="3228022"/>
            <a:ext cx="1650364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特殊情况下的审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3617277"/>
            <a:ext cx="8255000" cy="2993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275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 panose="020B0604020202020204"/>
                <a:cs typeface="Arial" panose="020B0604020202020204"/>
              </a:rPr>
              <a:t>a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、出现质量事故或客户对某一环节连续投诉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2755">
              <a:lnSpc>
                <a:spcPct val="100000"/>
              </a:lnSpc>
              <a:spcBef>
                <a:spcPts val="1145"/>
              </a:spcBef>
            </a:pPr>
            <a:r>
              <a:rPr sz="1600" spc="-5" dirty="0">
                <a:latin typeface="Arial" panose="020B0604020202020204"/>
                <a:cs typeface="Arial" panose="020B0604020202020204"/>
              </a:rPr>
              <a:t>b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、内部监督连续发现质量问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题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2755">
              <a:lnSpc>
                <a:spcPct val="100000"/>
              </a:lnSpc>
              <a:spcBef>
                <a:spcPts val="1145"/>
              </a:spcBef>
            </a:pPr>
            <a:r>
              <a:rPr sz="1600" spc="-5" dirty="0">
                <a:latin typeface="Arial" panose="020B0604020202020204"/>
                <a:cs typeface="Arial" panose="020B0604020202020204"/>
              </a:rPr>
              <a:t>c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、实验室内部发生较大变化（组织结构、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1600" spc="9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员、技术、设施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2755">
              <a:lnSpc>
                <a:spcPct val="100000"/>
              </a:lnSpc>
              <a:spcBef>
                <a:spcPts val="1145"/>
              </a:spcBef>
            </a:pPr>
            <a:r>
              <a:rPr sz="1600" spc="-5" dirty="0">
                <a:latin typeface="Arial" panose="020B0604020202020204"/>
                <a:cs typeface="Arial" panose="020B0604020202020204"/>
              </a:rPr>
              <a:t>d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、外审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前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6565" indent="-342900">
              <a:lnSpc>
                <a:spcPct val="100000"/>
              </a:lnSpc>
              <a:spcBef>
                <a:spcPts val="1135"/>
              </a:spcBef>
              <a:buClr>
                <a:srgbClr val="CC9900"/>
              </a:buClr>
              <a:buSzPct val="66000"/>
              <a:buFont typeface="Wingdings" panose="05000000000000000000"/>
              <a:buChar char=""/>
              <a:tabLst>
                <a:tab pos="455930" algn="l"/>
                <a:tab pos="456565" algn="l"/>
              </a:tabLst>
            </a:pPr>
            <a:r>
              <a:rPr sz="16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内审年度计划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（需最高管理者批准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6565" indent="-342900">
              <a:lnSpc>
                <a:spcPct val="100000"/>
              </a:lnSpc>
              <a:spcBef>
                <a:spcPts val="1145"/>
              </a:spcBef>
              <a:buClr>
                <a:srgbClr val="CC9900"/>
              </a:buClr>
              <a:buSzPct val="66000"/>
              <a:buFont typeface="Wingdings" panose="05000000000000000000"/>
              <a:buChar char=""/>
              <a:tabLst>
                <a:tab pos="455930" algn="l"/>
                <a:tab pos="456565" algn="l"/>
              </a:tabLst>
            </a:pPr>
            <a:r>
              <a:rPr sz="16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拟聘任有资质的内审员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（最高管理者批准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455930" algn="l"/>
                <a:tab pos="8241665" algn="l"/>
              </a:tabLst>
            </a:pPr>
            <a:r>
              <a:rPr sz="1050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050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50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Wingdings" panose="05000000000000000000"/>
                <a:cs typeface="Wingdings" panose="05000000000000000000"/>
              </a:rPr>
              <a:t></a:t>
            </a:r>
            <a:r>
              <a:rPr sz="1050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u="heavy" dirty="0">
                <a:uFill>
                  <a:solidFill>
                    <a:srgbClr val="CC99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内审</a:t>
            </a:r>
            <a:r>
              <a:rPr sz="1600" b="1" u="heavy" dirty="0">
                <a:solidFill>
                  <a:srgbClr val="FF00FF"/>
                </a:solidFill>
                <a:uFill>
                  <a:solidFill>
                    <a:srgbClr val="CC99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实施计划</a:t>
            </a:r>
            <a:r>
              <a:rPr sz="1600" b="1" u="heavy" spc="-15" dirty="0">
                <a:solidFill>
                  <a:srgbClr val="FF00FF"/>
                </a:solidFill>
                <a:uFill>
                  <a:solidFill>
                    <a:srgbClr val="CC99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表</a:t>
            </a:r>
            <a:r>
              <a:rPr sz="1600" b="1" u="heavy" dirty="0">
                <a:solidFill>
                  <a:srgbClr val="FF00FF"/>
                </a:solidFill>
                <a:uFill>
                  <a:solidFill>
                    <a:srgbClr val="CC99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6565" indent="-342900">
              <a:lnSpc>
                <a:spcPct val="100000"/>
              </a:lnSpc>
              <a:spcBef>
                <a:spcPts val="1145"/>
              </a:spcBef>
              <a:buClr>
                <a:srgbClr val="CC9900"/>
              </a:buClr>
              <a:buSzPct val="66000"/>
              <a:buFont typeface="Wingdings" panose="05000000000000000000"/>
              <a:buChar char=""/>
              <a:tabLst>
                <a:tab pos="455930" algn="l"/>
                <a:tab pos="456565" algn="l"/>
              </a:tabLst>
            </a:pP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内审</a:t>
            </a:r>
            <a:r>
              <a:rPr sz="16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记录表</a:t>
            </a:r>
            <a:r>
              <a:rPr sz="1600" b="1" spc="-15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格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32888" y="5799734"/>
            <a:ext cx="226914" cy="1828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32888" y="6198222"/>
            <a:ext cx="226885" cy="184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280352"/>
            <a:ext cx="42926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dirty="0">
                <a:latin typeface="宋体" panose="02010600030101010101" pitchFamily="2" charset="-122"/>
                <a:cs typeface="宋体" panose="02010600030101010101" pitchFamily="2" charset="-122"/>
              </a:rPr>
              <a:t>内部审核关注点：</a:t>
            </a:r>
            <a:endParaRPr sz="4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18284"/>
            <a:ext cx="5677535" cy="2223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 marR="361315" indent="-318135">
              <a:lnSpc>
                <a:spcPct val="120000"/>
              </a:lnSpc>
              <a:spcBef>
                <a:spcPts val="10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审核方案是否依据以下三点： 有关过程的重要性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30200" marR="5080">
              <a:lnSpc>
                <a:spcPct val="120000"/>
              </a:lnSpc>
            </a:pPr>
            <a:r>
              <a:rPr sz="3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对检验检测机构产生影响的变化 以往的审核结果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306069"/>
            <a:ext cx="16573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00FF"/>
                </a:solidFill>
              </a:rPr>
              <a:t>内审报</a:t>
            </a:r>
            <a:r>
              <a:rPr spc="-10" dirty="0">
                <a:solidFill>
                  <a:srgbClr val="FF00FF"/>
                </a:solidFill>
              </a:rPr>
              <a:t>告</a:t>
            </a:r>
            <a:endParaRPr spc="-10" dirty="0">
              <a:solidFill>
                <a:srgbClr val="FF00FF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854075"/>
            <a:ext cx="7797800" cy="469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1、审核目的和范围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2、受审核部门的负责人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3、审核日期、审核组成员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4、审核依据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5、受审核部门的主要参与者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ts val="2875"/>
              </a:lnSpc>
              <a:tabLst>
                <a:tab pos="5193665" algn="l"/>
              </a:tabLst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6、首次、末次会议签到及会议的记录	（作为报告附件）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203200" marR="5080" indent="-190500">
              <a:lnSpc>
                <a:spcPct val="80000"/>
              </a:lnSpc>
              <a:spcBef>
                <a:spcPts val="575"/>
              </a:spcBef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7、不符合项目的汇总结果（不符合项报告、不符合项分布 表作为附件）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165100">
              <a:lnSpc>
                <a:spcPts val="2870"/>
              </a:lnSpc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8、审核综述及审核结论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165100">
              <a:lnSpc>
                <a:spcPts val="2875"/>
              </a:lnSpc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9、对纠正措施完成的时限要求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165100">
              <a:lnSpc>
                <a:spcPts val="2875"/>
              </a:lnSpc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10、本审核报告的分发范围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165100">
              <a:lnSpc>
                <a:spcPts val="2875"/>
              </a:lnSpc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11、报告执笔人（质量负责人或组长）签名、日期。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  <a:p>
            <a:pPr marL="165100">
              <a:lnSpc>
                <a:spcPts val="2875"/>
              </a:lnSpc>
            </a:pPr>
            <a:r>
              <a:rPr sz="2400" dirty="0">
                <a:latin typeface="黑体" panose="02010609060101010101" charset="-122"/>
                <a:cs typeface="黑体" panose="02010609060101010101" charset="-122"/>
              </a:rPr>
              <a:t>12、质量负责人审核，最高管理者批准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844" y="414972"/>
            <a:ext cx="8026400" cy="45954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634365">
              <a:lnSpc>
                <a:spcPct val="90000"/>
              </a:lnSpc>
              <a:spcBef>
                <a:spcPts val="460"/>
              </a:spcBef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内审报告是内审组结束现场审核后必须编制 的重要文件，内审组长在末次会后应尽快完成内 审报告的编写，报告对审核中发现的问题（不符 合项）做出统计、分析、归纳和评价，内审报告 应规范化、定量化、具体化，内审报告经内审组 全体人员通过，并签名报质量负责人批准后由质 量管理部门发至各部门。内审报告作为管理评审 内容的输入之一，内审报告提交后，内审工作即 告结束。大型实验室应组成多个内审组，最终由 质量管理部门按照被审核部门编制《</a:t>
            </a:r>
            <a:r>
              <a:rPr sz="3000" spc="-5" dirty="0">
                <a:latin typeface="Arial" panose="020B0604020202020204"/>
                <a:cs typeface="Arial" panose="020B0604020202020204"/>
              </a:rPr>
              <a:t>****</a:t>
            </a: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年度内 审不符合项分布表》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18477"/>
            <a:ext cx="3416300" cy="3865879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30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资料准备</a:t>
            </a:r>
            <a:r>
              <a:rPr sz="3000" b="1" spc="-15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内审年度计划表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内审实施计划表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首末次会议签到表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内审检查表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不符合表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整改计划表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15568" y="3125787"/>
            <a:ext cx="369319" cy="3103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15568" y="3662362"/>
            <a:ext cx="369319" cy="31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15568" y="4192587"/>
            <a:ext cx="369319" cy="310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69143" y="1980260"/>
            <a:ext cx="358038" cy="3124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290512"/>
            <a:ext cx="1400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FF"/>
                </a:solidFill>
              </a:rPr>
              <a:t>过程</a:t>
            </a:r>
            <a:r>
              <a:rPr sz="3600" spc="-15" dirty="0">
                <a:solidFill>
                  <a:srgbClr val="FF00FF"/>
                </a:solidFill>
              </a:rPr>
              <a:t>：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35940" y="870458"/>
            <a:ext cx="7835265" cy="52235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800" spc="-5" dirty="0">
                <a:latin typeface="Arial" panose="020B0604020202020204"/>
                <a:cs typeface="Arial" panose="020B0604020202020204"/>
              </a:rPr>
              <a:t>1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8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召开内审首次会议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（质量负责人主持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99695" indent="251460">
              <a:lnSpc>
                <a:spcPts val="3000"/>
              </a:lnSpc>
              <a:spcBef>
                <a:spcPts val="730"/>
              </a:spcBef>
            </a:pPr>
            <a:r>
              <a:rPr sz="28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参加人员：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内审员、管理层领导、各部门负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责 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103505" indent="251460">
              <a:lnSpc>
                <a:spcPts val="3000"/>
              </a:lnSpc>
              <a:spcBef>
                <a:spcPts val="710"/>
              </a:spcBef>
            </a:pPr>
            <a:r>
              <a:rPr sz="28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内容：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宣读内审计划安排、明确内审纪律、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要 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求各部门全力配合工作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800" spc="-5" dirty="0">
                <a:latin typeface="Arial" panose="020B0604020202020204"/>
                <a:cs typeface="Arial" panose="020B0604020202020204"/>
              </a:rPr>
              <a:t>2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8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召开内审末次会议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（质量负责人主持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99695" indent="251460">
              <a:lnSpc>
                <a:spcPts val="3000"/>
              </a:lnSpc>
              <a:spcBef>
                <a:spcPts val="730"/>
              </a:spcBef>
            </a:pPr>
            <a:r>
              <a:rPr sz="28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参加人员：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参加工作的内审员、管理层领导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各部门负责人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5080" indent="251460">
              <a:lnSpc>
                <a:spcPts val="3010"/>
              </a:lnSpc>
              <a:spcBef>
                <a:spcPts val="700"/>
              </a:spcBef>
            </a:pPr>
            <a:r>
              <a:rPr sz="2800" b="1" dirty="0">
                <a:solidFill>
                  <a:srgbClr val="FF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内容：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各内审员汇报工作情况，针对不符合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项 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进行沟通和确认、制定整改计划、形成内审报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告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>
              <a:lnSpc>
                <a:spcPts val="2975"/>
              </a:lnSpc>
            </a:pP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</a:rPr>
              <a:t>、跟踪验证</a:t>
            </a:r>
            <a:r>
              <a:rPr sz="2800" spc="-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03859"/>
            <a:ext cx="7988300" cy="414401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3000" b="1" dirty="0">
                <a:latin typeface="宋体" panose="02010600030101010101" pitchFamily="2" charset="-122"/>
                <a:cs typeface="宋体" panose="02010600030101010101" pitchFamily="2" charset="-122"/>
              </a:rPr>
              <a:t>注意事项</a:t>
            </a:r>
            <a:r>
              <a:rPr sz="30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ts val="3595"/>
              </a:lnSpc>
              <a:spcBef>
                <a:spcPts val="735"/>
              </a:spcBef>
            </a:pPr>
            <a:r>
              <a:rPr sz="3000" dirty="0">
                <a:latin typeface="Arial" panose="020B0604020202020204"/>
                <a:cs typeface="Arial" panose="020B0604020202020204"/>
              </a:rPr>
              <a:t>1</a:t>
            </a: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、内审记录表设计要实用，首先具有可操作性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>
              <a:lnSpc>
                <a:spcPts val="3595"/>
              </a:lnSpc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，每项检查最好有具体要求；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5080" indent="-342900">
              <a:lnSpc>
                <a:spcPct val="100000"/>
              </a:lnSpc>
              <a:spcBef>
                <a:spcPts val="740"/>
              </a:spcBef>
            </a:pPr>
            <a:r>
              <a:rPr sz="3000" dirty="0">
                <a:latin typeface="Arial" panose="020B0604020202020204"/>
                <a:cs typeface="Arial" panose="020B0604020202020204"/>
              </a:rPr>
              <a:t>2</a:t>
            </a: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、内审记录要包括所有要素和区域，（四个覆 盖！）不得有遗漏，审核管理层是最容易忽视 的；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3000" dirty="0">
                <a:latin typeface="Arial" panose="020B0604020202020204"/>
                <a:cs typeface="Arial" panose="020B0604020202020204"/>
              </a:rPr>
              <a:t>3</a:t>
            </a: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、不符合项的整改必须跟踪、验收；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000" dirty="0">
                <a:latin typeface="Arial" panose="020B0604020202020204"/>
                <a:cs typeface="Arial" panose="020B0604020202020204"/>
              </a:rPr>
              <a:t>4</a:t>
            </a: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、需要签名的记录不得忽视。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16100" y="298767"/>
            <a:ext cx="32258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dirty="0">
                <a:latin typeface="宋体" panose="02010600030101010101" pitchFamily="2" charset="-122"/>
                <a:cs typeface="宋体" panose="02010600030101010101" pitchFamily="2" charset="-122"/>
              </a:rPr>
              <a:t>二、管理评审</a:t>
            </a:r>
            <a:endParaRPr sz="4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746249"/>
            <a:ext cx="2108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solidFill>
                  <a:srgbClr val="CC9900"/>
                </a:solidFill>
                <a:latin typeface="Wingdings" panose="05000000000000000000"/>
                <a:cs typeface="Wingdings" panose="05000000000000000000"/>
              </a:rPr>
              <a:t></a:t>
            </a:r>
            <a:endParaRPr sz="1950">
              <a:latin typeface="Wingdings" panose="05000000000000000000"/>
              <a:cs typeface="Wingdings" panose="050000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613534"/>
            <a:ext cx="7645400" cy="13950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42315" algn="just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最高管理者（管理层）根据质量方针和目 标对管理体系的适宜性、充分性、有效性进行 定期的、系统的评价活动。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4977" y="321310"/>
            <a:ext cx="7900034" cy="5695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0680" indent="-347980">
              <a:lnSpc>
                <a:spcPct val="100000"/>
              </a:lnSpc>
              <a:spcBef>
                <a:spcPts val="10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60045" algn="l"/>
                <a:tab pos="360680" algn="l"/>
                <a:tab pos="1228725" algn="l"/>
              </a:tabLst>
            </a:pPr>
            <a:r>
              <a:rPr sz="2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4.5.13	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管理评</a:t>
            </a:r>
            <a:r>
              <a:rPr sz="2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审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indent="449580" algn="just">
              <a:lnSpc>
                <a:spcPct val="210000"/>
              </a:lnSpc>
              <a:spcBef>
                <a:spcPts val="520"/>
              </a:spcBef>
            </a:pPr>
            <a:r>
              <a:rPr sz="2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检验检测机构应建立和保持管理评审的程序。管理评审通常12个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月 一次，由管理层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（最高管理者）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负责。管理层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（最高管理者）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应确保管 理评审后，得出的相应变更或改进措施予以实施。确保管理体系的适宜 性、充分性和有效性。应保留管理评审的记录，管理评审输入应包括以 下信息</a:t>
            </a:r>
            <a:r>
              <a:rPr sz="2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3810000" indent="149860">
              <a:lnSpc>
                <a:spcPct val="230000"/>
              </a:lnSpc>
              <a:tabLst>
                <a:tab pos="1137285" algn="l"/>
                <a:tab pos="2811145" algn="l"/>
              </a:tabLst>
            </a:pPr>
            <a:r>
              <a:rPr sz="2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（a-o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)	输入顺序变</a:t>
            </a:r>
            <a:r>
              <a:rPr sz="2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化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增加了一条 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管理评审的输出应包括以下内容</a:t>
            </a:r>
            <a:r>
              <a:rPr sz="2000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 marL="23685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（a-d).</a:t>
            </a:r>
            <a:r>
              <a:rPr sz="20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增加了一</a:t>
            </a:r>
            <a:r>
              <a:rPr sz="2000" spc="5" dirty="0">
                <a:latin typeface="微软雅黑" panose="020B0503020204020204" charset="-122"/>
                <a:cs typeface="微软雅黑" panose="020B0503020204020204" charset="-122"/>
              </a:rPr>
              <a:t>条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管理评审输入</a:t>
            </a:r>
            <a:r>
              <a:rPr sz="2000" spc="-5" dirty="0"/>
              <a:t>：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5868352" y="871537"/>
            <a:ext cx="2566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以往管理评审所采取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措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8352" y="871537"/>
            <a:ext cx="4725035" cy="57531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5600" marR="5080" indent="-342900">
              <a:lnSpc>
                <a:spcPts val="1920"/>
              </a:lnSpc>
              <a:spcBef>
                <a:spcPts val="565"/>
              </a:spcBef>
            </a:pPr>
            <a:r>
              <a:rPr sz="2000" spc="-5" dirty="0">
                <a:latin typeface="黑体" panose="02010609060101010101" charset="-122"/>
                <a:cs typeface="黑体" panose="02010609060101010101" charset="-122"/>
              </a:rPr>
              <a:t>a）</a:t>
            </a: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检验检测机构相关的内外部因素的变化 </a:t>
            </a: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施的情况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8352" y="1420177"/>
            <a:ext cx="7265034" cy="3013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4970" indent="-38227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95000"/>
              <a:buAutoNum type="alphaLcPeriod" startAt="2"/>
              <a:tabLst>
                <a:tab pos="394970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目标的可行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2000" spc="-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与管理体系相关的内外部因素的变化;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94970" indent="-382270">
              <a:lnSpc>
                <a:spcPct val="100000"/>
              </a:lnSpc>
              <a:buClr>
                <a:srgbClr val="000000"/>
              </a:buClr>
              <a:buSzPct val="95000"/>
              <a:buAutoNum type="alphaLcPeriod" startAt="2"/>
              <a:tabLst>
                <a:tab pos="394970" algn="l"/>
                <a:tab pos="3060065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政策和程序的适用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	</a:t>
            </a: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客户满意度、投诉和相关方的反馈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94970" indent="-382270">
              <a:lnSpc>
                <a:spcPct val="100000"/>
              </a:lnSpc>
              <a:buClr>
                <a:srgbClr val="000000"/>
              </a:buClr>
              <a:buSzPct val="95000"/>
              <a:buAutoNum type="alphaLcPeriod" startAt="2"/>
              <a:tabLst>
                <a:tab pos="394970" algn="l"/>
                <a:tab pos="4330065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以往管理评审所采取措施的情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况	</a:t>
            </a: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质量目标实现程度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94970" indent="-382270">
              <a:lnSpc>
                <a:spcPct val="100000"/>
              </a:lnSpc>
              <a:buClr>
                <a:srgbClr val="000000"/>
              </a:buClr>
              <a:buSzPct val="95000"/>
              <a:buAutoNum type="alphaLcPeriod" startAt="2"/>
              <a:tabLst>
                <a:tab pos="394970" algn="l"/>
                <a:tab pos="2933065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近期内部审核的结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果	</a:t>
            </a: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政策和程序的适用性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94970" indent="-382270">
              <a:lnSpc>
                <a:spcPct val="100000"/>
              </a:lnSpc>
              <a:buClr>
                <a:srgbClr val="000000"/>
              </a:buClr>
              <a:buSzPct val="95000"/>
              <a:buAutoNum type="alphaLcPeriod" startAt="2"/>
              <a:tabLst>
                <a:tab pos="394970" algn="l"/>
                <a:tab pos="1662430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纠正措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施	</a:t>
            </a: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管理和监督人员的报告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94970" indent="-382270">
              <a:lnSpc>
                <a:spcPct val="100000"/>
              </a:lnSpc>
              <a:buClr>
                <a:srgbClr val="000000"/>
              </a:buClr>
              <a:buSzPct val="95000"/>
              <a:buAutoNum type="alphaLcPeriod" startAt="2"/>
              <a:tabLst>
                <a:tab pos="394970" algn="l"/>
                <a:tab pos="3187065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由外部机构进行的评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审	</a:t>
            </a: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内外部审核的结果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55600" marR="513080" indent="-342900">
              <a:lnSpc>
                <a:spcPct val="80000"/>
              </a:lnSpc>
              <a:spcBef>
                <a:spcPts val="480"/>
              </a:spcBef>
              <a:buClr>
                <a:srgbClr val="000000"/>
              </a:buClr>
              <a:buSzPct val="95000"/>
              <a:buAutoNum type="alphaLcPeriod" startAt="2"/>
              <a:tabLst>
                <a:tab pos="394970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工作量和工作类型的变化或检验检测机构活动范围的变化 </a:t>
            </a: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纠正措施和预防措施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94970" indent="-382270">
              <a:lnSpc>
                <a:spcPct val="100000"/>
              </a:lnSpc>
              <a:buClr>
                <a:srgbClr val="000000"/>
              </a:buClr>
              <a:buSzPct val="95000"/>
              <a:buAutoNum type="alphaLcPeriod" startAt="9"/>
              <a:tabLst>
                <a:tab pos="394970" algn="l"/>
                <a:tab pos="2679065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客户和员工的反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馈</a:t>
            </a: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	</a:t>
            </a: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检验检测机构间比对或能力验证的结果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94970" indent="-382270">
              <a:lnSpc>
                <a:spcPct val="100000"/>
              </a:lnSpc>
              <a:buClr>
                <a:srgbClr val="000000"/>
              </a:buClr>
              <a:buSzPct val="95000"/>
              <a:buAutoNum type="alphaLcPeriod" startAt="9"/>
              <a:tabLst>
                <a:tab pos="394970" algn="l"/>
                <a:tab pos="1282065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投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诉	</a:t>
            </a: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工作量和工作类型的变化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8352" y="4407217"/>
            <a:ext cx="243903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4970" indent="-38227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95000"/>
              <a:buAutoNum type="alphaLcPeriod" startAt="11"/>
              <a:tabLst>
                <a:tab pos="394970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实施改进的有效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94970" indent="-382270">
              <a:lnSpc>
                <a:spcPct val="100000"/>
              </a:lnSpc>
              <a:buClr>
                <a:srgbClr val="000000"/>
              </a:buClr>
              <a:buSzPct val="95000"/>
              <a:buAutoNum type="alphaLcPeriod" startAt="11"/>
              <a:tabLst>
                <a:tab pos="394970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资源配备的合理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93700" indent="-381000">
              <a:lnSpc>
                <a:spcPct val="100000"/>
              </a:lnSpc>
              <a:buClr>
                <a:srgbClr val="000000"/>
              </a:buClr>
              <a:buAutoNum type="alphaLcParenR" startAt="13"/>
              <a:tabLst>
                <a:tab pos="393700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风险识别的可控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393700" indent="-381000">
              <a:lnSpc>
                <a:spcPct val="100000"/>
              </a:lnSpc>
              <a:buClr>
                <a:srgbClr val="000000"/>
              </a:buClr>
              <a:buAutoNum type="alphaLcParenR" startAt="13"/>
              <a:tabLst>
                <a:tab pos="393700" algn="l"/>
              </a:tabLst>
            </a:pP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结果质量的保障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55352" y="4407217"/>
            <a:ext cx="485203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资源的充分性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12700" marR="513080">
              <a:lnSpc>
                <a:spcPct val="100000"/>
              </a:lnSpc>
            </a:pP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应对风险和机遇所采取措施的有效性； 改进建议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黑体" panose="02010609060101010101" charset="-122"/>
                <a:cs typeface="黑体" panose="02010609060101010101" charset="-122"/>
              </a:rPr>
              <a:t>其它相关因素，如质量控制活动、员工培</a:t>
            </a:r>
            <a:r>
              <a:rPr sz="2000" spc="5" dirty="0">
                <a:latin typeface="黑体" panose="02010609060101010101" charset="-122"/>
                <a:cs typeface="黑体" panose="02010609060101010101" charset="-122"/>
              </a:rPr>
              <a:t>训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8352" y="5626417"/>
            <a:ext cx="4217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黑体" panose="02010609060101010101" charset="-122"/>
                <a:cs typeface="黑体" panose="02010609060101010101" charset="-122"/>
              </a:rPr>
              <a:t>0）</a:t>
            </a:r>
            <a:r>
              <a:rPr sz="2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其他相关因素，如监督活动和培</a:t>
            </a:r>
            <a:r>
              <a:rPr sz="2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2339" y="775017"/>
            <a:ext cx="28708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黑体" panose="02010609060101010101" charset="-122"/>
                <a:cs typeface="黑体" panose="02010609060101010101" charset="-122"/>
              </a:rPr>
              <a:t>管理评审输出</a:t>
            </a:r>
            <a:r>
              <a:rPr b="0" spc="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b="0" spc="5" dirty="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17662"/>
            <a:ext cx="7835900" cy="31343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584835" indent="-572135">
              <a:lnSpc>
                <a:spcPct val="100000"/>
              </a:lnSpc>
              <a:spcBef>
                <a:spcPts val="1540"/>
              </a:spcBef>
              <a:buClr>
                <a:srgbClr val="000000"/>
              </a:buClr>
              <a:buSzPct val="97000"/>
              <a:buAutoNum type="alphaLcPeriod"/>
              <a:tabLst>
                <a:tab pos="584835" algn="l"/>
                <a:tab pos="5346065" algn="l"/>
              </a:tabLst>
            </a:pPr>
            <a:r>
              <a:rPr sz="3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管理体系及其过程的有效性	</a:t>
            </a:r>
            <a:r>
              <a:rPr sz="3000" dirty="0">
                <a:latin typeface="黑体" panose="02010609060101010101" charset="-122"/>
                <a:cs typeface="黑体" panose="02010609060101010101" charset="-122"/>
              </a:rPr>
              <a:t>改进措施；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  <a:p>
            <a:pPr marL="355600" marR="5080" indent="-342900">
              <a:lnSpc>
                <a:spcPct val="120000"/>
              </a:lnSpc>
              <a:spcBef>
                <a:spcPts val="720"/>
              </a:spcBef>
              <a:buClr>
                <a:srgbClr val="000000"/>
              </a:buClr>
              <a:buSzPct val="97000"/>
              <a:buAutoNum type="alphaLcPeriod"/>
              <a:tabLst>
                <a:tab pos="584835" algn="l"/>
                <a:tab pos="4774565" algn="l"/>
              </a:tabLst>
            </a:pPr>
            <a:r>
              <a:rPr sz="3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符合本标准要求的改进	</a:t>
            </a:r>
            <a:r>
              <a:rPr sz="3000" dirty="0">
                <a:latin typeface="黑体" panose="02010609060101010101" charset="-122"/>
                <a:cs typeface="黑体" panose="02010609060101010101" charset="-122"/>
              </a:rPr>
              <a:t>管理体系所需要的 变更；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  <a:p>
            <a:pPr marL="584835" indent="-572135">
              <a:lnSpc>
                <a:spcPct val="100000"/>
              </a:lnSpc>
              <a:spcBef>
                <a:spcPts val="1440"/>
              </a:spcBef>
              <a:buClr>
                <a:srgbClr val="000000"/>
              </a:buClr>
              <a:buSzPct val="97000"/>
              <a:buAutoNum type="alphaLcPeriod"/>
              <a:tabLst>
                <a:tab pos="584835" algn="l"/>
                <a:tab pos="3631565" algn="l"/>
              </a:tabLst>
            </a:pPr>
            <a:r>
              <a:rPr sz="3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提供所需的资源	</a:t>
            </a:r>
            <a:r>
              <a:rPr sz="3000" dirty="0">
                <a:latin typeface="黑体" panose="02010609060101010101" charset="-122"/>
                <a:cs typeface="黑体" panose="02010609060101010101" charset="-122"/>
              </a:rPr>
              <a:t>资源需求。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583565" algn="l"/>
              </a:tabLst>
            </a:pPr>
            <a:r>
              <a:rPr sz="3000" dirty="0">
                <a:latin typeface="黑体" panose="02010609060101010101" charset="-122"/>
                <a:cs typeface="黑体" panose="02010609060101010101" charset="-122"/>
              </a:rPr>
              <a:t>d)	</a:t>
            </a:r>
            <a:r>
              <a:rPr sz="3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变更的需求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1060" y="425132"/>
            <a:ext cx="3168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Segoe Print" panose="02000600000000000000"/>
                <a:cs typeface="Segoe Print" panose="02000600000000000000"/>
              </a:rPr>
              <a:t>1</a:t>
            </a:r>
            <a:r>
              <a:rPr b="0" dirty="0">
                <a:latin typeface="宋体" panose="02010600030101010101" pitchFamily="2" charset="-122"/>
                <a:cs typeface="宋体" panose="02010600030101010101" pitchFamily="2" charset="-122"/>
              </a:rPr>
              <a:t>、管理评审目</a:t>
            </a:r>
            <a:r>
              <a:rPr b="0" spc="5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endParaRPr b="0" spc="5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271269"/>
            <a:ext cx="7847965" cy="3737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评价质量体系的适宜性、充分性、有效性</a:t>
            </a:r>
            <a:r>
              <a:rPr sz="28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83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5600" algn="l"/>
              </a:tabLst>
            </a:pPr>
            <a:r>
              <a:rPr sz="3600" dirty="0">
                <a:latin typeface="黑体" panose="02010609060101010101" charset="-122"/>
                <a:cs typeface="黑体" panose="02010609060101010101" charset="-122"/>
              </a:rPr>
              <a:t>评价质量体系持续的适宜性。</a:t>
            </a:r>
            <a:endParaRPr sz="36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 indent="711200" algn="just">
              <a:lnSpc>
                <a:spcPct val="160000"/>
              </a:lnSpc>
              <a:spcBef>
                <a:spcPts val="380"/>
              </a:spcBef>
            </a:pP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是指方针和目标满足客户要求、社会需求和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检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验检测机构自身发展的程度。经评审如有变化，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应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修改方针和目标，以适应这种变化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8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4986"/>
            <a:ext cx="7898765" cy="527431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4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5600" algn="l"/>
              </a:tabLst>
            </a:pPr>
            <a:r>
              <a:rPr sz="3600" dirty="0">
                <a:latin typeface="黑体" panose="02010609060101010101" charset="-122"/>
                <a:cs typeface="黑体" panose="02010609060101010101" charset="-122"/>
              </a:rPr>
              <a:t>评价质量体系持续的充分性</a:t>
            </a:r>
            <a:r>
              <a:rPr sz="3000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 indent="762000">
              <a:lnSpc>
                <a:spcPct val="101000"/>
              </a:lnSpc>
              <a:spcBef>
                <a:spcPts val="830"/>
              </a:spcBef>
            </a:pP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是指达到对所有影响质量目标的活动进行控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制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的程度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800">
              <a:latin typeface="黑体" panose="02010609060101010101" charset="-122"/>
              <a:cs typeface="黑体" panose="02010609060101010101" charset="-122"/>
            </a:endParaRPr>
          </a:p>
          <a:p>
            <a:pPr marL="12700" marR="55880" lvl="1" indent="355600" algn="just">
              <a:lnSpc>
                <a:spcPct val="100000"/>
              </a:lnSpc>
              <a:spcBef>
                <a:spcPts val="670"/>
              </a:spcBef>
              <a:buSzPct val="96000"/>
              <a:buChar char="■"/>
              <a:tabLst>
                <a:tab pos="723900" algn="l"/>
              </a:tabLst>
            </a:pP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如客户要求、社会需求和检验检测机构自身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发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展要求有变化，或某些客观变化，检验检测机构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会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发现各种改进需求，原有体系会有诸多未考虑到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的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活动，使体系在过程方面不充分。管理评审就是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要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求发现质量体系中存在的这种不充分性，并使之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得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到改进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800">
              <a:latin typeface="黑体" panose="02010609060101010101" charset="-122"/>
              <a:cs typeface="黑体" panose="02010609060101010101" charset="-122"/>
            </a:endParaRPr>
          </a:p>
          <a:p>
            <a:pPr marL="12700" marR="55880" lvl="1" indent="355600" algn="just">
              <a:lnSpc>
                <a:spcPct val="100000"/>
              </a:lnSpc>
              <a:spcBef>
                <a:spcPts val="670"/>
              </a:spcBef>
              <a:buSzPct val="96000"/>
              <a:buChar char="■"/>
              <a:tabLst>
                <a:tab pos="723900" algn="l"/>
              </a:tabLst>
            </a:pP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如无变化，经评审发现质量体系的薄弱环节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，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识别改进的需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求</a:t>
            </a:r>
            <a:endParaRPr sz="28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89368"/>
            <a:ext cx="7835265" cy="3901440"/>
          </a:xfrm>
          <a:prstGeom prst="rect">
            <a:avLst/>
          </a:prstGeom>
        </p:spPr>
        <p:txBody>
          <a:bodyPr vert="horz" wrap="square" lIns="0" tIns="3003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365"/>
              </a:spcBef>
              <a:buClr>
                <a:srgbClr val="CC9900"/>
              </a:buClr>
              <a:buSzPct val="65000"/>
              <a:buFont typeface="MS UI Gothic" panose="020B0600070205080204" charset="-128"/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黑体" panose="02010609060101010101" charset="-122"/>
                <a:cs typeface="黑体" panose="02010609060101010101" charset="-122"/>
              </a:rPr>
              <a:t>评价质量体系持续的有效性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 marR="5080" indent="647700" algn="just">
              <a:lnSpc>
                <a:spcPct val="140000"/>
              </a:lnSpc>
              <a:spcBef>
                <a:spcPts val="410"/>
              </a:spcBef>
            </a:pP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是指达到质量方针和质量目标的程度。为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判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定检验检测机构的质量体系是否预定的目标，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就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必须把客户反馈、过程绩效、报告质量以及实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现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的质量目标等作为评审的输入，并与规定的方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针 </a:t>
            </a:r>
            <a:r>
              <a:rPr sz="2800" dirty="0">
                <a:latin typeface="黑体" panose="02010609060101010101" charset="-122"/>
                <a:cs typeface="黑体" panose="02010609060101010101" charset="-122"/>
              </a:rPr>
              <a:t>和目标进行比较，以判定质量体系的有效性</a:t>
            </a:r>
            <a:r>
              <a:rPr sz="28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8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1060" y="300672"/>
            <a:ext cx="3168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Segoe Print" panose="02000600000000000000"/>
                <a:cs typeface="Segoe Print" panose="02000600000000000000"/>
              </a:rPr>
              <a:t>2</a:t>
            </a:r>
            <a:r>
              <a:rPr b="0" dirty="0">
                <a:latin typeface="宋体" panose="02010600030101010101" pitchFamily="2" charset="-122"/>
                <a:cs typeface="宋体" panose="02010600030101010101" pitchFamily="2" charset="-122"/>
              </a:rPr>
              <a:t>、管理评审内</a:t>
            </a:r>
            <a:r>
              <a:rPr b="0" spc="5" dirty="0">
                <a:latin typeface="宋体" panose="02010600030101010101" pitchFamily="2" charset="-122"/>
                <a:cs typeface="宋体" panose="02010600030101010101" pitchFamily="2" charset="-122"/>
              </a:rPr>
              <a:t>容</a:t>
            </a:r>
            <a:endParaRPr b="0" spc="5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36191"/>
            <a:ext cx="7963534" cy="36677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质量方针和目标的实现情况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 marR="170180" indent="-342900">
              <a:lnSpc>
                <a:spcPct val="100000"/>
              </a:lnSpc>
              <a:spcBef>
                <a:spcPts val="62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  <a:tab pos="4482465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质量方针和目标是否适宜?	需要调整改进哪些内容 以适应各种需求和检验检测机构的发展?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组织结构、管理职能是否合适和协调?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各项程序是否合理、有效，是否需要增减和修改?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各种过程是否受控?</a:t>
            </a:r>
            <a:r>
              <a:rPr sz="26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过程是否需要改善或优化?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600" spc="-5" dirty="0">
                <a:latin typeface="黑体" panose="02010609060101010101" charset="-122"/>
                <a:cs typeface="黑体" panose="02010609060101010101" charset="-122"/>
              </a:rPr>
              <a:t>资源(包括人力、财力、设备设施、技术等)是否配</a:t>
            </a: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置 得当和充足?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1060" y="300672"/>
            <a:ext cx="3168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Segoe Print" panose="02000600000000000000"/>
                <a:cs typeface="Segoe Print" panose="02000600000000000000"/>
              </a:rPr>
              <a:t>3</a:t>
            </a:r>
            <a:r>
              <a:rPr b="0" dirty="0">
                <a:latin typeface="宋体" panose="02010600030101010101" pitchFamily="2" charset="-122"/>
                <a:cs typeface="宋体" panose="02010600030101010101" pitchFamily="2" charset="-122"/>
              </a:rPr>
              <a:t>、管理评审方</a:t>
            </a:r>
            <a:r>
              <a:rPr b="0" spc="5" dirty="0"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endParaRPr b="0" spc="5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11629"/>
            <a:ext cx="8026400" cy="288480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55600" marR="157480" indent="-342900">
              <a:lnSpc>
                <a:spcPct val="101000"/>
              </a:lnSpc>
              <a:spcBef>
                <a:spcPts val="4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  <a:tab pos="3212465" algn="l"/>
              </a:tabLst>
            </a:pPr>
            <a:r>
              <a:rPr sz="3000" dirty="0">
                <a:latin typeface="黑体" panose="02010609060101010101" charset="-122"/>
                <a:cs typeface="黑体" panose="02010609060101010101" charset="-122"/>
              </a:rPr>
              <a:t>集体会议讨论法	（定期评审/每年一次），</a:t>
            </a:r>
            <a:r>
              <a:rPr sz="2100" dirty="0">
                <a:latin typeface="黑体" panose="02010609060101010101" charset="-122"/>
                <a:cs typeface="黑体" panose="02010609060101010101" charset="-122"/>
              </a:rPr>
              <a:t>在 召开评审会议前，制定出评审计划，列出所有需要评审的议题，</a:t>
            </a:r>
            <a:endParaRPr sz="2100">
              <a:latin typeface="黑体" panose="02010609060101010101" charset="-122"/>
              <a:cs typeface="黑体" panose="02010609060101010101" charset="-122"/>
            </a:endParaRPr>
          </a:p>
          <a:p>
            <a:pPr marL="355600">
              <a:lnSpc>
                <a:spcPct val="100000"/>
              </a:lnSpc>
              <a:spcBef>
                <a:spcPts val="845"/>
              </a:spcBef>
            </a:pPr>
            <a:r>
              <a:rPr sz="2100" dirty="0">
                <a:latin typeface="黑体" panose="02010609060101010101" charset="-122"/>
                <a:cs typeface="黑体" panose="02010609060101010101" charset="-122"/>
              </a:rPr>
              <a:t>事先发给有关部门和人员做好准备。</a:t>
            </a:r>
            <a:endParaRPr sz="2100">
              <a:latin typeface="黑体" panose="02010609060101010101" charset="-122"/>
              <a:cs typeface="黑体" panose="02010609060101010101" charset="-122"/>
            </a:endParaRPr>
          </a:p>
          <a:p>
            <a:pPr marL="355600" marR="5080" indent="-342900">
              <a:lnSpc>
                <a:spcPct val="101000"/>
              </a:lnSpc>
              <a:spcBef>
                <a:spcPts val="87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  <a:tab pos="2450465" algn="l"/>
              </a:tabLst>
            </a:pPr>
            <a:r>
              <a:rPr sz="3000" dirty="0">
                <a:latin typeface="黑体" panose="02010609060101010101" charset="-122"/>
                <a:cs typeface="黑体" panose="02010609060101010101" charset="-122"/>
              </a:rPr>
              <a:t>专题研讨法	（不定期评审/每年多次），</a:t>
            </a:r>
            <a:r>
              <a:rPr sz="2100" dirty="0">
                <a:latin typeface="黑体" panose="02010609060101010101" charset="-122"/>
                <a:cs typeface="黑体" panose="02010609060101010101" charset="-122"/>
              </a:rPr>
              <a:t>将所需 评审的项目和要求分成几个专题，事先责成有关部门和人员进行 专题研讨，分别写出专题报告后汇总报送最高管理者审定，最后</a:t>
            </a:r>
            <a:endParaRPr sz="2100">
              <a:latin typeface="黑体" panose="02010609060101010101" charset="-122"/>
              <a:cs typeface="黑体" panose="02010609060101010101" charset="-122"/>
            </a:endParaRPr>
          </a:p>
          <a:p>
            <a:pPr marL="355600">
              <a:lnSpc>
                <a:spcPct val="100000"/>
              </a:lnSpc>
              <a:spcBef>
                <a:spcPts val="860"/>
              </a:spcBef>
            </a:pPr>
            <a:r>
              <a:rPr sz="2100" dirty="0">
                <a:latin typeface="黑体" panose="02010609060101010101" charset="-122"/>
                <a:cs typeface="黑体" panose="02010609060101010101" charset="-122"/>
              </a:rPr>
              <a:t>形成集中式的评审报告。</a:t>
            </a:r>
            <a:endParaRPr sz="21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1060" y="300672"/>
            <a:ext cx="3168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Segoe Print" panose="02000600000000000000"/>
                <a:cs typeface="Segoe Print" panose="02000600000000000000"/>
              </a:rPr>
              <a:t>4</a:t>
            </a:r>
            <a:r>
              <a:rPr b="0" dirty="0">
                <a:latin typeface="宋体" panose="02010600030101010101" pitchFamily="2" charset="-122"/>
                <a:cs typeface="宋体" panose="02010600030101010101" pitchFamily="2" charset="-122"/>
              </a:rPr>
              <a:t>、管理评审步</a:t>
            </a:r>
            <a:r>
              <a:rPr b="0" spc="5" dirty="0">
                <a:latin typeface="宋体" panose="02010600030101010101" pitchFamily="2" charset="-122"/>
                <a:cs typeface="宋体" panose="02010600030101010101" pitchFamily="2" charset="-122"/>
              </a:rPr>
              <a:t>骤</a:t>
            </a:r>
            <a:endParaRPr b="0" spc="5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65910"/>
            <a:ext cx="7988300" cy="3583304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49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5600" algn="l"/>
              </a:tabLst>
            </a:pPr>
            <a:r>
              <a:rPr sz="3400" b="1" dirty="0">
                <a:solidFill>
                  <a:srgbClr val="006633"/>
                </a:solidFill>
                <a:latin typeface="黑体" panose="02010609060101010101" charset="-122"/>
                <a:cs typeface="黑体" panose="02010609060101010101" charset="-122"/>
              </a:rPr>
              <a:t>评审策划准备</a:t>
            </a:r>
            <a:r>
              <a:rPr sz="3400" dirty="0">
                <a:latin typeface="黑体" panose="02010609060101010101" charset="-122"/>
                <a:cs typeface="黑体" panose="02010609060101010101" charset="-122"/>
              </a:rPr>
              <a:t>。</a:t>
            </a:r>
            <a:r>
              <a:rPr sz="3000" dirty="0">
                <a:latin typeface="黑体" panose="02010609060101010101" charset="-122"/>
                <a:cs typeface="黑体" panose="02010609060101010101" charset="-122"/>
              </a:rPr>
              <a:t>在评审前应进行策划，确定 评审的目的、组织、内容、方法、时间安排及 评审输入的准备工作要求，并以书面形式分发 至参加评审的部门和人员。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  <a:p>
            <a:pPr marL="355600" marR="5080" indent="-342900">
              <a:lnSpc>
                <a:spcPct val="90000"/>
              </a:lnSpc>
              <a:spcBef>
                <a:spcPts val="79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400" b="1" dirty="0">
                <a:solidFill>
                  <a:srgbClr val="006633"/>
                </a:solidFill>
                <a:latin typeface="黑体" panose="02010609060101010101" charset="-122"/>
                <a:cs typeface="黑体" panose="02010609060101010101" charset="-122"/>
              </a:rPr>
              <a:t>制定评审实施计划</a:t>
            </a:r>
            <a:r>
              <a:rPr sz="3400" dirty="0">
                <a:latin typeface="黑体" panose="02010609060101010101" charset="-122"/>
                <a:cs typeface="黑体" panose="02010609060101010101" charset="-122"/>
              </a:rPr>
              <a:t>。</a:t>
            </a:r>
            <a:r>
              <a:rPr sz="3000" dirty="0">
                <a:latin typeface="黑体" panose="02010609060101010101" charset="-122"/>
                <a:cs typeface="黑体" panose="02010609060101010101" charset="-122"/>
              </a:rPr>
              <a:t>质量负责人按评审策 划的要求收集评审输入信息后，要进行综合分 析整理，列出需要评审的全部议题，形成评审 实施计划，提前发给参加评审的人员。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34795"/>
            <a:ext cx="7963534" cy="341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b="1" dirty="0">
                <a:solidFill>
                  <a:srgbClr val="006633"/>
                </a:solidFill>
                <a:latin typeface="黑体" panose="02010609060101010101" charset="-122"/>
                <a:cs typeface="黑体" panose="02010609060101010101" charset="-122"/>
              </a:rPr>
              <a:t>召开评审会</a:t>
            </a:r>
            <a:r>
              <a:rPr sz="3000" b="1" spc="-15" dirty="0">
                <a:solidFill>
                  <a:srgbClr val="006633"/>
                </a:solidFill>
                <a:latin typeface="黑体" panose="02010609060101010101" charset="-122"/>
                <a:cs typeface="黑体" panose="02010609060101010101" charset="-122"/>
              </a:rPr>
              <a:t>议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  <a:p>
            <a:pPr marL="229870" indent="-217170">
              <a:lnSpc>
                <a:spcPts val="3115"/>
              </a:lnSpc>
              <a:spcBef>
                <a:spcPts val="15"/>
              </a:spcBef>
              <a:buSzPct val="62000"/>
              <a:buChar char="■"/>
              <a:tabLst>
                <a:tab pos="22987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由管理层主持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229870" indent="-217170">
              <a:lnSpc>
                <a:spcPts val="2805"/>
              </a:lnSpc>
              <a:buSzPct val="62000"/>
              <a:buChar char="■"/>
              <a:tabLst>
                <a:tab pos="22987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参加人员，技术负责人、质量负责人、各部门负责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人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>
              <a:lnSpc>
                <a:spcPts val="2805"/>
              </a:lnSpc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、质量监督员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229870" indent="-217170">
              <a:lnSpc>
                <a:spcPts val="2805"/>
              </a:lnSpc>
              <a:buSzPct val="62000"/>
              <a:buChar char="■"/>
              <a:tabLst>
                <a:tab pos="22987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质量负责人汇报质量体系运行状况并报告实施计划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内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>
              <a:lnSpc>
                <a:spcPts val="2495"/>
              </a:lnSpc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容和输入内容（也可由相关人员分别报告输入内容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>
              <a:lnSpc>
                <a:spcPts val="2805"/>
              </a:lnSpc>
            </a:pP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229870" indent="-217170">
              <a:lnSpc>
                <a:spcPts val="3115"/>
              </a:lnSpc>
              <a:buSzPct val="62000"/>
              <a:buChar char="■"/>
              <a:tabLst>
                <a:tab pos="22987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与会人员根据实施计划的内容进行逐项研讨、评价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229870" indent="-217170">
              <a:lnSpc>
                <a:spcPts val="3115"/>
              </a:lnSpc>
              <a:buSzPct val="62000"/>
              <a:buChar char="■"/>
              <a:tabLst>
                <a:tab pos="22987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会议主持人进行总结，并形成决议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18025"/>
            <a:ext cx="7963534" cy="3589654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b="1" dirty="0">
                <a:solidFill>
                  <a:srgbClr val="006633"/>
                </a:solidFill>
                <a:latin typeface="黑体" panose="02010609060101010101" charset="-122"/>
                <a:cs typeface="黑体" panose="02010609060101010101" charset="-122"/>
              </a:rPr>
              <a:t>编制评审报</a:t>
            </a:r>
            <a:r>
              <a:rPr sz="3000" b="1" spc="-15" dirty="0">
                <a:solidFill>
                  <a:srgbClr val="006633"/>
                </a:solidFill>
                <a:latin typeface="黑体" panose="02010609060101010101" charset="-122"/>
                <a:cs typeface="黑体" panose="02010609060101010101" charset="-122"/>
              </a:rPr>
              <a:t>告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  <a:p>
            <a:pPr marL="254000" indent="-241300">
              <a:lnSpc>
                <a:spcPct val="100000"/>
              </a:lnSpc>
              <a:spcBef>
                <a:spcPts val="645"/>
              </a:spcBef>
              <a:buSzPct val="69000"/>
              <a:buChar char="■"/>
              <a:tabLst>
                <a:tab pos="25400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由指定人员根据评审实施计划、评审会议记录、等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编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>
              <a:lnSpc>
                <a:spcPct val="100000"/>
              </a:lnSpc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制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254000" indent="-241300">
              <a:lnSpc>
                <a:spcPct val="100000"/>
              </a:lnSpc>
              <a:spcBef>
                <a:spcPts val="620"/>
              </a:spcBef>
              <a:buSzPct val="69000"/>
              <a:buChar char="■"/>
              <a:tabLst>
                <a:tab pos="25400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由最高管理者批准发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布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254000" indent="-241300">
              <a:lnSpc>
                <a:spcPct val="100000"/>
              </a:lnSpc>
              <a:spcBef>
                <a:spcPts val="620"/>
              </a:spcBef>
              <a:buSzPct val="69000"/>
              <a:buChar char="■"/>
              <a:tabLst>
                <a:tab pos="25400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评审报告应包括：目的、依据、内容、方法、日期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、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>
              <a:lnSpc>
                <a:spcPct val="100000"/>
              </a:lnSpc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人员；每一评审项目的简述和结论；质量体系适宜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性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 marR="5080">
              <a:lnSpc>
                <a:spcPct val="100000"/>
              </a:lnSpc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、充分性、有效性评价；质量体系的改进措施及其实 施要求、责任部门和完成期限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18025"/>
            <a:ext cx="7963534" cy="351091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b="1" dirty="0">
                <a:solidFill>
                  <a:srgbClr val="006633"/>
                </a:solidFill>
                <a:latin typeface="黑体" panose="02010609060101010101" charset="-122"/>
                <a:cs typeface="黑体" panose="02010609060101010101" charset="-122"/>
              </a:rPr>
              <a:t>改进和验</a:t>
            </a:r>
            <a:r>
              <a:rPr sz="3000" b="1" spc="-15" dirty="0">
                <a:solidFill>
                  <a:srgbClr val="006633"/>
                </a:solidFill>
                <a:latin typeface="黑体" panose="02010609060101010101" charset="-122"/>
                <a:cs typeface="黑体" panose="02010609060101010101" charset="-122"/>
              </a:rPr>
              <a:t>证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45"/>
              </a:spcBef>
              <a:buSzPct val="65000"/>
              <a:buChar char="■"/>
              <a:tabLst>
                <a:tab pos="34798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评审的结果可能导致质量体系文件的更改和补充、组 织机构和职能调整和完善、过程的改进和优化、资源 的重新配置和充实等，这些调整和改进大多数是较重 要的事项，对其实施过程和效果应进行跟踪验证，以 防止措施落实不到位或产生副面效应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 marR="12700" indent="-342900" algn="just">
              <a:lnSpc>
                <a:spcPct val="100000"/>
              </a:lnSpc>
              <a:spcBef>
                <a:spcPts val="620"/>
              </a:spcBef>
              <a:buSzPct val="65000"/>
              <a:buChar char="■"/>
              <a:tabLst>
                <a:tab pos="34798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由质量负责人组织验证，验证的结果应进行记录并向 最高管理者报告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18025"/>
            <a:ext cx="7963534" cy="27184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b="1" dirty="0">
                <a:solidFill>
                  <a:srgbClr val="006633"/>
                </a:solidFill>
                <a:latin typeface="黑体" panose="02010609060101010101" charset="-122"/>
                <a:cs typeface="黑体" panose="02010609060101010101" charset="-122"/>
              </a:rPr>
              <a:t>评审记录归档保</a:t>
            </a:r>
            <a:r>
              <a:rPr sz="3000" b="1" spc="-15" dirty="0">
                <a:solidFill>
                  <a:srgbClr val="006633"/>
                </a:solidFill>
                <a:latin typeface="黑体" panose="02010609060101010101" charset="-122"/>
                <a:cs typeface="黑体" panose="02010609060101010101" charset="-122"/>
              </a:rPr>
              <a:t>存</a:t>
            </a:r>
            <a:endParaRPr sz="3000">
              <a:latin typeface="黑体" panose="02010609060101010101" charset="-122"/>
              <a:cs typeface="黑体" panose="02010609060101010101" charset="-122"/>
            </a:endParaRPr>
          </a:p>
          <a:p>
            <a:pPr marL="321310" marR="39370" indent="-321310">
              <a:lnSpc>
                <a:spcPct val="100000"/>
              </a:lnSpc>
              <a:spcBef>
                <a:spcPts val="645"/>
              </a:spcBef>
              <a:buSzPct val="73000"/>
              <a:buChar char="■"/>
              <a:tabLst>
                <a:tab pos="32131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评审活动结束后，要将与评审有关的记录进行整理， 完整地归档保存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21310" marR="5080" indent="-321310">
              <a:lnSpc>
                <a:spcPct val="100000"/>
              </a:lnSpc>
              <a:spcBef>
                <a:spcPts val="620"/>
              </a:spcBef>
              <a:buSzPct val="73000"/>
              <a:buChar char="■"/>
              <a:tabLst>
                <a:tab pos="321310" algn="l"/>
              </a:tabLst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保存的记录应包括：评审的实施计划、各种评审输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入 </a:t>
            </a: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信息资料、评审会议记录（会议签到表）、评审报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告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  <a:p>
            <a:pPr marL="355600">
              <a:lnSpc>
                <a:spcPct val="100000"/>
              </a:lnSpc>
            </a:pPr>
            <a:r>
              <a:rPr sz="2600" dirty="0">
                <a:latin typeface="黑体" panose="02010609060101010101" charset="-122"/>
                <a:cs typeface="黑体" panose="02010609060101010101" charset="-122"/>
              </a:rPr>
              <a:t>、改进措施的验证记录、评审报告的分发清单等</a:t>
            </a:r>
            <a:r>
              <a:rPr sz="2600" spc="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425132"/>
            <a:ext cx="37490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Segoe Print" panose="02000600000000000000"/>
                <a:cs typeface="Segoe Print" panose="02000600000000000000"/>
              </a:rPr>
              <a:t>5</a:t>
            </a:r>
            <a:r>
              <a:rPr spc="-10" dirty="0"/>
              <a:t>、</a:t>
            </a:r>
            <a:r>
              <a:rPr spc="-400" dirty="0"/>
              <a:t> </a:t>
            </a:r>
            <a:r>
              <a:rPr dirty="0"/>
              <a:t>管理体系的改</a:t>
            </a:r>
            <a:r>
              <a:rPr spc="-10" dirty="0"/>
              <a:t>进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71805" y="1613534"/>
            <a:ext cx="70504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040" indent="-434340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57000"/>
              <a:buFont typeface="Wingdings" panose="05000000000000000000"/>
              <a:buChar char=""/>
              <a:tabLst>
                <a:tab pos="446405" algn="l"/>
                <a:tab pos="447040" algn="l"/>
              </a:tabLst>
            </a:pPr>
            <a:r>
              <a:rPr sz="3000" b="1" dirty="0">
                <a:latin typeface="Arial" panose="020B0604020202020204"/>
                <a:cs typeface="Arial" panose="020B0604020202020204"/>
              </a:rPr>
              <a:t>(1)</a:t>
            </a:r>
            <a:r>
              <a:rPr sz="3000" b="1" dirty="0">
                <a:latin typeface="宋体" panose="02010600030101010101" pitchFamily="2" charset="-122"/>
                <a:cs typeface="宋体" panose="02010600030101010101" pitchFamily="2" charset="-122"/>
              </a:rPr>
              <a:t>为促进持续改进检验检测机构应当</a:t>
            </a:r>
            <a:r>
              <a:rPr sz="30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805" y="3139440"/>
            <a:ext cx="18605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solidFill>
                  <a:srgbClr val="CC9900"/>
                </a:solidFill>
                <a:latin typeface="Wingdings" panose="05000000000000000000"/>
                <a:cs typeface="Wingdings" panose="05000000000000000000"/>
              </a:rPr>
              <a:t></a:t>
            </a:r>
            <a:endParaRPr sz="1700">
              <a:latin typeface="Wingdings" panose="05000000000000000000"/>
              <a:cs typeface="Wingdings" panose="050000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1805" y="3614420"/>
            <a:ext cx="18605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solidFill>
                  <a:srgbClr val="CC9900"/>
                </a:solidFill>
                <a:latin typeface="Wingdings" panose="05000000000000000000"/>
                <a:cs typeface="Wingdings" panose="05000000000000000000"/>
              </a:rPr>
              <a:t></a:t>
            </a:r>
            <a:endParaRPr sz="1700">
              <a:latin typeface="Wingdings" panose="05000000000000000000"/>
              <a:cs typeface="Wingdings" panose="050000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1805" y="4485640"/>
            <a:ext cx="18605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solidFill>
                  <a:srgbClr val="CC9900"/>
                </a:solidFill>
                <a:latin typeface="Wingdings" panose="05000000000000000000"/>
                <a:cs typeface="Wingdings" panose="05000000000000000000"/>
              </a:rPr>
              <a:t></a:t>
            </a:r>
            <a:endParaRPr sz="1700">
              <a:latin typeface="Wingdings" panose="05000000000000000000"/>
              <a:cs typeface="Wingdings" panose="050000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5356859"/>
            <a:ext cx="18605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solidFill>
                  <a:srgbClr val="CC9900"/>
                </a:solidFill>
                <a:latin typeface="Wingdings" panose="05000000000000000000"/>
                <a:cs typeface="Wingdings" panose="05000000000000000000"/>
              </a:rPr>
              <a:t></a:t>
            </a:r>
            <a:endParaRPr sz="1700">
              <a:latin typeface="Wingdings" panose="05000000000000000000"/>
              <a:cs typeface="Wingdings" panose="0500000000000000000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55600" marR="400050" indent="-342900">
              <a:lnSpc>
                <a:spcPts val="3100"/>
              </a:lnSpc>
              <a:spcBef>
                <a:spcPts val="22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720725" algn="l"/>
                <a:tab pos="721360" algn="l"/>
              </a:tabLst>
            </a:pPr>
            <a:r>
              <a:rPr dirty="0"/>
              <a:t>	①通过质量方针的建立实施和保持，营造一个激励 改进的氛围与环境</a:t>
            </a:r>
            <a:r>
              <a:rPr spc="5" dirty="0"/>
              <a:t>；</a:t>
            </a:r>
            <a:endParaRPr spc="5" dirty="0"/>
          </a:p>
          <a:p>
            <a:pPr marL="721360">
              <a:lnSpc>
                <a:spcPct val="100000"/>
              </a:lnSpc>
              <a:spcBef>
                <a:spcPts val="540"/>
              </a:spcBef>
            </a:pPr>
            <a:r>
              <a:rPr dirty="0"/>
              <a:t>②确立质量目标以明确改进方向</a:t>
            </a:r>
            <a:r>
              <a:rPr spc="5" dirty="0"/>
              <a:t>；</a:t>
            </a:r>
            <a:endParaRPr spc="5" dirty="0"/>
          </a:p>
          <a:p>
            <a:pPr marL="355600" marR="400050" indent="365760">
              <a:lnSpc>
                <a:spcPts val="3110"/>
              </a:lnSpc>
              <a:spcBef>
                <a:spcPts val="730"/>
              </a:spcBef>
            </a:pPr>
            <a:r>
              <a:rPr dirty="0"/>
              <a:t>③通过质量监督、质量保证、数据分析、内部审核 不断寻求改进机会，并做出适当改进安排</a:t>
            </a:r>
            <a:r>
              <a:rPr spc="5" dirty="0"/>
              <a:t>；</a:t>
            </a:r>
            <a:endParaRPr spc="5" dirty="0"/>
          </a:p>
          <a:p>
            <a:pPr marL="355600" marR="400050" indent="365760">
              <a:lnSpc>
                <a:spcPts val="3100"/>
              </a:lnSpc>
              <a:spcBef>
                <a:spcPts val="650"/>
              </a:spcBef>
            </a:pPr>
            <a:r>
              <a:rPr dirty="0"/>
              <a:t>④实施纠正措施和预防措施以及其他适用措施，实 现改进</a:t>
            </a:r>
            <a:r>
              <a:rPr spc="5" dirty="0"/>
              <a:t>；</a:t>
            </a:r>
            <a:endParaRPr spc="5" dirty="0"/>
          </a:p>
          <a:p>
            <a:pPr marL="785495">
              <a:lnSpc>
                <a:spcPct val="100000"/>
              </a:lnSpc>
              <a:spcBef>
                <a:spcPts val="540"/>
              </a:spcBef>
            </a:pPr>
            <a:r>
              <a:rPr dirty="0"/>
              <a:t>⑤在管理评审中评价改进效果，确定新的改进目标</a:t>
            </a:r>
            <a:r>
              <a:rPr spc="5" dirty="0"/>
              <a:t>。</a:t>
            </a:r>
            <a:endParaRPr spc="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89584"/>
            <a:ext cx="8619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b="1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3000" b="1" dirty="0">
                <a:latin typeface="Arial" panose="020B0604020202020204"/>
                <a:cs typeface="Arial" panose="020B0604020202020204"/>
              </a:rPr>
              <a:t>2</a:t>
            </a:r>
            <a:r>
              <a:rPr sz="3000" b="1" dirty="0">
                <a:latin typeface="宋体" panose="02010600030101010101" pitchFamily="2" charset="-122"/>
                <a:cs typeface="宋体" panose="02010600030101010101" pitchFamily="2" charset="-122"/>
              </a:rPr>
              <a:t>）检验检测机构应收集持续改进的以下证据</a:t>
            </a:r>
            <a:r>
              <a:rPr sz="30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015490"/>
            <a:ext cx="18605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solidFill>
                  <a:srgbClr val="CC9900"/>
                </a:solidFill>
                <a:latin typeface="Wingdings" panose="05000000000000000000"/>
                <a:cs typeface="Wingdings" panose="05000000000000000000"/>
              </a:rPr>
              <a:t></a:t>
            </a:r>
            <a:endParaRPr sz="1700">
              <a:latin typeface="Wingdings" panose="05000000000000000000"/>
              <a:cs typeface="Wingdings" panose="050000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886710"/>
            <a:ext cx="18605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solidFill>
                  <a:srgbClr val="CC9900"/>
                </a:solidFill>
                <a:latin typeface="Wingdings" panose="05000000000000000000"/>
                <a:cs typeface="Wingdings" panose="05000000000000000000"/>
              </a:rPr>
              <a:t></a:t>
            </a:r>
            <a:endParaRPr sz="1700">
              <a:latin typeface="Wingdings" panose="05000000000000000000"/>
              <a:cs typeface="Wingdings" panose="050000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154170"/>
            <a:ext cx="18605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solidFill>
                  <a:srgbClr val="CC9900"/>
                </a:solidFill>
                <a:latin typeface="Wingdings" panose="05000000000000000000"/>
                <a:cs typeface="Wingdings" panose="05000000000000000000"/>
              </a:rPr>
              <a:t></a:t>
            </a:r>
            <a:endParaRPr sz="1700">
              <a:latin typeface="Wingdings" panose="05000000000000000000"/>
              <a:cs typeface="Wingdings" panose="050000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028064"/>
            <a:ext cx="7999095" cy="42233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55600" marR="5080" indent="-342900">
              <a:lnSpc>
                <a:spcPts val="3100"/>
              </a:lnSpc>
              <a:spcBef>
                <a:spcPts val="22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720725" algn="l"/>
                <a:tab pos="721360" algn="l"/>
              </a:tabLst>
            </a:pPr>
            <a:r>
              <a:rPr dirty="0"/>
              <a:t>	</a:t>
            </a:r>
            <a:r>
              <a:rPr sz="2600" dirty="0">
                <a:latin typeface="宋体" panose="02010600030101010101" pitchFamily="2" charset="-122"/>
                <a:cs typeface="宋体" panose="02010600030101010101" pitchFamily="2" charset="-122"/>
              </a:rPr>
              <a:t>①应搜集检验检测机构质量方针、质量目标达成情 况记录</a:t>
            </a:r>
            <a:r>
              <a:rPr sz="2600" spc="5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2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5080" indent="365760" algn="just">
              <a:lnSpc>
                <a:spcPts val="3100"/>
              </a:lnSpc>
              <a:spcBef>
                <a:spcPts val="660"/>
              </a:spcBef>
            </a:pPr>
            <a:r>
              <a:rPr sz="2600" dirty="0">
                <a:latin typeface="宋体" panose="02010600030101010101" pitchFamily="2" charset="-122"/>
                <a:cs typeface="宋体" panose="02010600030101010101" pitchFamily="2" charset="-122"/>
              </a:rPr>
              <a:t>②通过数据分析找出客户不满意，数据和结果未满 足要求的情况记录</a:t>
            </a:r>
            <a:r>
              <a:rPr sz="2600" spc="5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2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5080" indent="365760" algn="just">
              <a:lnSpc>
                <a:spcPct val="100000"/>
              </a:lnSpc>
              <a:spcBef>
                <a:spcPts val="545"/>
              </a:spcBef>
            </a:pPr>
            <a:r>
              <a:rPr sz="2600" dirty="0">
                <a:latin typeface="宋体" panose="02010600030101010101" pitchFamily="2" charset="-122"/>
                <a:cs typeface="宋体" panose="02010600030101010101" pitchFamily="2" charset="-122"/>
              </a:rPr>
              <a:t>③利用内、外部审核的结果不断发现管理体系的薄 弱环节，采取纠正措施，尤其是预防措施，避免不</a:t>
            </a:r>
            <a:r>
              <a:rPr sz="2600" spc="5" dirty="0">
                <a:latin typeface="宋体" panose="02010600030101010101" pitchFamily="2" charset="-122"/>
                <a:cs typeface="宋体" panose="02010600030101010101" pitchFamily="2" charset="-122"/>
              </a:rPr>
              <a:t>合 </a:t>
            </a:r>
            <a:r>
              <a:rPr sz="2600" dirty="0">
                <a:latin typeface="宋体" panose="02010600030101010101" pitchFamily="2" charset="-122"/>
                <a:cs typeface="宋体" panose="02010600030101010101" pitchFamily="2" charset="-122"/>
              </a:rPr>
              <a:t>格的发生或再发生的记录</a:t>
            </a:r>
            <a:r>
              <a:rPr sz="2600" spc="5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2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5080" indent="365760" algn="just">
              <a:lnSpc>
                <a:spcPct val="100000"/>
              </a:lnSpc>
              <a:spcBef>
                <a:spcPts val="640"/>
              </a:spcBef>
            </a:pPr>
            <a:r>
              <a:rPr sz="2600" dirty="0">
                <a:latin typeface="宋体" panose="02010600030101010101" pitchFamily="2" charset="-122"/>
                <a:cs typeface="宋体" panose="02010600030101010101" pitchFamily="2" charset="-122"/>
              </a:rPr>
              <a:t>④通过管理评审活动中对管理体系的适宜性、充分 性和有效性的全面评价，发现管理体系有效性的持</a:t>
            </a:r>
            <a:r>
              <a:rPr sz="2600" spc="5" dirty="0">
                <a:latin typeface="宋体" panose="02010600030101010101" pitchFamily="2" charset="-122"/>
                <a:cs typeface="宋体" panose="02010600030101010101" pitchFamily="2" charset="-122"/>
              </a:rPr>
              <a:t>续 </a:t>
            </a:r>
            <a:r>
              <a:rPr sz="2600" dirty="0">
                <a:latin typeface="宋体" panose="02010600030101010101" pitchFamily="2" charset="-122"/>
                <a:cs typeface="宋体" panose="02010600030101010101" pitchFamily="2" charset="-122"/>
              </a:rPr>
              <a:t>改进机会的记录</a:t>
            </a:r>
            <a:r>
              <a:rPr sz="2600" spc="5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26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5303520"/>
            <a:ext cx="8293734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 panose="02010600030101010101" pitchFamily="2" charset="-122"/>
                <a:cs typeface="宋体" panose="02010600030101010101" pitchFamily="2" charset="-122"/>
              </a:rPr>
              <a:t>⑤更重要的是利用上述记录所进行的检验检测机构</a:t>
            </a:r>
            <a:r>
              <a:rPr sz="2600" spc="5" dirty="0">
                <a:latin typeface="宋体" panose="02010600030101010101" pitchFamily="2" charset="-122"/>
                <a:cs typeface="宋体" panose="02010600030101010101" pitchFamily="2" charset="-122"/>
              </a:rPr>
              <a:t>日 </a:t>
            </a:r>
            <a:r>
              <a:rPr sz="2600" dirty="0">
                <a:latin typeface="宋体" panose="02010600030101010101" pitchFamily="2" charset="-122"/>
                <a:cs typeface="宋体" panose="02010600030101010101" pitchFamily="2" charset="-122"/>
              </a:rPr>
              <a:t>常渐进的改进活动和重大的突破性的改进活动的证据</a:t>
            </a:r>
            <a:r>
              <a:rPr sz="2600" spc="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6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96735"/>
            <a:ext cx="8014970" cy="490029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5600" algn="l"/>
              </a:tabLst>
            </a:pPr>
            <a:r>
              <a:rPr sz="3600" b="1" dirty="0">
                <a:latin typeface="宋体" panose="02010600030101010101" pitchFamily="2" charset="-122"/>
                <a:cs typeface="宋体" panose="02010600030101010101" pitchFamily="2" charset="-122"/>
              </a:rPr>
              <a:t>结语</a:t>
            </a:r>
            <a:r>
              <a:rPr sz="36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3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5600" marR="5080" indent="-342900">
              <a:lnSpc>
                <a:spcPct val="100000"/>
              </a:lnSpc>
              <a:spcBef>
                <a:spcPts val="755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  <a:tab pos="7403465" algn="l"/>
              </a:tabLst>
            </a:pPr>
            <a:r>
              <a:rPr sz="3000" b="1" dirty="0">
                <a:latin typeface="宋体" panose="02010600030101010101" pitchFamily="2" charset="-122"/>
                <a:cs typeface="宋体" panose="02010600030101010101" pitchFamily="2" charset="-122"/>
              </a:rPr>
              <a:t>管理体系的生命力在于</a:t>
            </a:r>
            <a:r>
              <a:rPr sz="3000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持续改进</a:t>
            </a: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。检验检测机 构按照《检验检测机构资质认定</a:t>
            </a:r>
            <a:r>
              <a:rPr sz="3000" dirty="0">
                <a:latin typeface="新宋体" panose="02010609030101010101" charset="-122"/>
                <a:cs typeface="新宋体" panose="02010609030101010101" charset="-122"/>
              </a:rPr>
              <a:t>能力评价	检 验检测机构通用要求》</a:t>
            </a: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建立管理体系以后，又 经过日常质量监督、内部审核和管理评审等活 动，并对发现的问题采取了纠正措施和预防措 施，然后又对采取的措施进行跟踪验证，还可 能引起文件的更改，包括对质量手册、程序文 件等的修改。这样，检验检测机构就初步建立 了自我完善、自我改进的机制。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052" y="416242"/>
            <a:ext cx="8369300" cy="322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5000"/>
              <a:buFont typeface="Wingdings" panose="05000000000000000000"/>
              <a:buChar char=""/>
              <a:tabLst>
                <a:tab pos="354965" algn="l"/>
                <a:tab pos="355600" algn="l"/>
              </a:tabLst>
            </a:pPr>
            <a:r>
              <a:rPr sz="3000" dirty="0">
                <a:latin typeface="宋体" panose="02010600030101010101" pitchFamily="2" charset="-122"/>
                <a:cs typeface="宋体" panose="02010600030101010101" pitchFamily="2" charset="-122"/>
              </a:rPr>
              <a:t>但这仅仅是开始，只有最高管理层真正意识到 检验检测机构管理的重点是人员培训，人员培 训做好了，体系运行和检测活动中的问题都能 得到解决。通过反复进行内部审核和管理评审， 接受外部审核，持续改进管理体系，我们检验 检测机构的管理体系才能称得上真正的不断完 善改进。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0" y="1874520"/>
            <a:ext cx="3931920" cy="24688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OC_GUID" val="{dce1c79a-b7b6-4fdf-8592-88974016478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4369</Words>
  <Application>WPS 演示</Application>
  <PresentationFormat>On-screen Show (4:3)</PresentationFormat>
  <Paragraphs>238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Arial</vt:lpstr>
      <vt:lpstr>宋体</vt:lpstr>
      <vt:lpstr>Wingdings</vt:lpstr>
      <vt:lpstr>Times New Roman</vt:lpstr>
      <vt:lpstr>Arial</vt:lpstr>
      <vt:lpstr>Wingdings</vt:lpstr>
      <vt:lpstr>黑体</vt:lpstr>
      <vt:lpstr>微软雅黑</vt:lpstr>
      <vt:lpstr>Calibri</vt:lpstr>
      <vt:lpstr>Arial Unicode MS</vt:lpstr>
      <vt:lpstr>Segoe Print</vt:lpstr>
      <vt:lpstr>MS UI Gothic</vt:lpstr>
      <vt:lpstr>新宋体</vt:lpstr>
      <vt:lpstr>Office Theme</vt:lpstr>
      <vt:lpstr>PowerPoint 演示文稿</vt:lpstr>
      <vt:lpstr>PowerPoint 演示文稿</vt:lpstr>
      <vt:lpstr>一、管理体系的内部审核</vt:lpstr>
      <vt:lpstr>PowerPoint 演示文稿</vt:lpstr>
      <vt:lpstr>内	审</vt:lpstr>
      <vt:lpstr>内部审核关注点：</vt:lpstr>
      <vt:lpstr>内审报告</vt:lpstr>
      <vt:lpstr>PowerPoint 演示文稿</vt:lpstr>
      <vt:lpstr>PowerPoint 演示文稿</vt:lpstr>
      <vt:lpstr>过程：</vt:lpstr>
      <vt:lpstr>PowerPoint 演示文稿</vt:lpstr>
      <vt:lpstr>二、管理评审</vt:lpstr>
      <vt:lpstr>PowerPoint 演示文稿</vt:lpstr>
      <vt:lpstr>管理评审输入：</vt:lpstr>
      <vt:lpstr>管理评审输出：</vt:lpstr>
      <vt:lpstr>1、管理评审目的</vt:lpstr>
      <vt:lpstr>PowerPoint 演示文稿</vt:lpstr>
      <vt:lpstr>PowerPoint 演示文稿</vt:lpstr>
      <vt:lpstr>2、管理评审内容</vt:lpstr>
      <vt:lpstr>3、管理评审方法</vt:lpstr>
      <vt:lpstr>4、管理评审步骤</vt:lpstr>
      <vt:lpstr>PowerPoint 演示文稿</vt:lpstr>
      <vt:lpstr>PowerPoint 演示文稿</vt:lpstr>
      <vt:lpstr>PowerPoint 演示文稿</vt:lpstr>
      <vt:lpstr>PowerPoint 演示文稿</vt:lpstr>
      <vt:lpstr>5、 管理体系的改进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①嚸①嚸痲朩</cp:lastModifiedBy>
  <cp:revision>4</cp:revision>
  <dcterms:created xsi:type="dcterms:W3CDTF">2018-09-06T10:12:00Z</dcterms:created>
  <dcterms:modified xsi:type="dcterms:W3CDTF">2019-10-18T08:23:53Z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2018-08-23T00:00:00Z</vt:filetime>
  </property>
  <property fmtid="{D5CDD505-2E9C-101B-9397-08002B2CF9AE}" pid="3" name="LastSaved">
    <vt:filetime>2018-09-06T00:00:00Z</vt:filetime>
  </property>
  <property fmtid="{D5CDD505-2E9C-101B-9397-08002B2CF9AE}" pid="4" name="KSOProductBuildVer">
    <vt:lpwstr>2052-11.1.0.9098</vt:lpwstr>
  </property>
</Properties>
</file>